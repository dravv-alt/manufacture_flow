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5074920"/>
            <a:ext cx="9601200" cy="0"/>
          </a:xfrm>
          <a:prstGeom prst="line">
            <a:avLst/>
          </a:prstGeom>
          <a:noFill/>
          <a:ln w="19050">
            <a:solidFill>
              <a:srgbClr val="3A3D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7864" y="4992624"/>
            <a:ext cx="164592" cy="164592"/>
          </a:xfrm>
          <a:prstGeom prst="ellipse">
            <a:avLst/>
          </a:prstGeom>
          <a:solidFill>
            <a:srgbClr val="3A3D37"/>
          </a:solidFill>
          <a:ln w="9525">
            <a:solidFill>
              <a:srgbClr val="B8720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5221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598164" y="4992624"/>
            <a:ext cx="164592" cy="164592"/>
          </a:xfrm>
          <a:prstGeom prst="ellipse">
            <a:avLst/>
          </a:prstGeom>
          <a:solidFill>
            <a:srgbClr val="B8720F"/>
          </a:solidFill>
          <a:ln w="12700">
            <a:solidFill>
              <a:srgbClr val="B8720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57500" y="5221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98464" y="4992624"/>
            <a:ext cx="164592" cy="164592"/>
          </a:xfrm>
          <a:prstGeom prst="ellipse">
            <a:avLst/>
          </a:prstGeom>
          <a:solidFill>
            <a:srgbClr val="3A3D37"/>
          </a:solidFill>
          <a:ln w="9525">
            <a:solidFill>
              <a:srgbClr val="B872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5221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398764" y="4992624"/>
            <a:ext cx="164592" cy="164592"/>
          </a:xfrm>
          <a:prstGeom prst="ellipse">
            <a:avLst/>
          </a:prstGeom>
          <a:solidFill>
            <a:srgbClr val="3A3D37"/>
          </a:solidFill>
          <a:ln w="9525">
            <a:solidFill>
              <a:srgbClr val="B8720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58100" y="5221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799064" y="4992624"/>
            <a:ext cx="164592" cy="164592"/>
          </a:xfrm>
          <a:prstGeom prst="ellipse">
            <a:avLst/>
          </a:prstGeom>
          <a:solidFill>
            <a:srgbClr val="3A3D37"/>
          </a:solidFill>
          <a:ln w="9525">
            <a:solidFill>
              <a:srgbClr val="B8720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0" y="5221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RESILIENCE CONTROL PLANE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6517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ManufactureFlow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862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system that coordinates a factory's response to machine failure — from the first sensor signal to shipment-level customer impact.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RESILIENCE · AGENTIC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Machine Failure Is Never Just</a:t>
            </a:r>
            <a:endParaRPr lang="en-US" sz="3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Maintenance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06044" y="2880360"/>
            <a:ext cx="138988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0908" y="28803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09648" y="3442716"/>
            <a:ext cx="114300" cy="128016"/>
          </a:xfrm>
          <a:prstGeom prst="rightArrow">
            <a:avLst/>
          </a:prstGeom>
          <a:solidFill>
            <a:srgbClr val="7C7B70"/>
          </a:solidFill>
          <a:ln/>
        </p:spPr>
      </p:sp>
      <p:sp>
        <p:nvSpPr>
          <p:cNvPr id="7" name="Shape 5"/>
          <p:cNvSpPr/>
          <p:nvPr/>
        </p:nvSpPr>
        <p:spPr>
          <a:xfrm>
            <a:off x="2337664" y="2880360"/>
            <a:ext cx="138988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392528" y="28803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41268" y="3442716"/>
            <a:ext cx="114300" cy="128016"/>
          </a:xfrm>
          <a:prstGeom prst="rightArrow">
            <a:avLst/>
          </a:prstGeom>
          <a:solidFill>
            <a:srgbClr val="7C7B70"/>
          </a:solidFill>
          <a:ln/>
        </p:spPr>
      </p:sp>
      <p:sp>
        <p:nvSpPr>
          <p:cNvPr id="10" name="Shape 8"/>
          <p:cNvSpPr/>
          <p:nvPr/>
        </p:nvSpPr>
        <p:spPr>
          <a:xfrm>
            <a:off x="3869284" y="2880360"/>
            <a:ext cx="138988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924148" y="28803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Jobs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72888" y="3442716"/>
            <a:ext cx="114300" cy="128016"/>
          </a:xfrm>
          <a:prstGeom prst="rightArrow">
            <a:avLst/>
          </a:prstGeom>
          <a:solidFill>
            <a:srgbClr val="7C7B7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00904" y="2880360"/>
            <a:ext cx="138988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55768" y="28803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/ Procurement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04508" y="3442716"/>
            <a:ext cx="114300" cy="128016"/>
          </a:xfrm>
          <a:prstGeom prst="rightArrow">
            <a:avLst/>
          </a:prstGeom>
          <a:solidFill>
            <a:srgbClr val="7C7B70"/>
          </a:solidFill>
          <a:ln/>
        </p:spPr>
      </p:sp>
      <p:sp>
        <p:nvSpPr>
          <p:cNvPr id="16" name="Shape 14"/>
          <p:cNvSpPr/>
          <p:nvPr/>
        </p:nvSpPr>
        <p:spPr>
          <a:xfrm>
            <a:off x="6932524" y="2880360"/>
            <a:ext cx="138988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87388" y="28803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36128" y="3442716"/>
            <a:ext cx="114300" cy="128016"/>
          </a:xfrm>
          <a:prstGeom prst="rightArrow">
            <a:avLst/>
          </a:prstGeom>
          <a:solidFill>
            <a:srgbClr val="7C7B70"/>
          </a:solidFill>
          <a:ln/>
        </p:spPr>
      </p:sp>
      <p:sp>
        <p:nvSpPr>
          <p:cNvPr id="19" name="Shape 17"/>
          <p:cNvSpPr/>
          <p:nvPr/>
        </p:nvSpPr>
        <p:spPr>
          <a:xfrm>
            <a:off x="8464144" y="2880360"/>
            <a:ext cx="138988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19008" y="28803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867748" y="3442716"/>
            <a:ext cx="114300" cy="128016"/>
          </a:xfrm>
          <a:prstGeom prst="rightArrow">
            <a:avLst/>
          </a:prstGeom>
          <a:solidFill>
            <a:srgbClr val="7C7B70"/>
          </a:solidFill>
          <a:ln/>
        </p:spPr>
      </p:sp>
      <p:sp>
        <p:nvSpPr>
          <p:cNvPr id="22" name="Shape 20"/>
          <p:cNvSpPr/>
          <p:nvPr/>
        </p:nvSpPr>
        <p:spPr>
          <a:xfrm>
            <a:off x="9995764" y="2880360"/>
            <a:ext cx="1389888" cy="1234440"/>
          </a:xfrm>
          <a:prstGeom prst="roundRect">
            <a:avLst>
              <a:gd name="adj" fmla="val 4444"/>
            </a:avLst>
          </a:prstGeom>
          <a:solidFill>
            <a:srgbClr val="F2DBD6"/>
          </a:solidFill>
          <a:ln w="12700">
            <a:solidFill>
              <a:srgbClr val="AE4438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050628" y="28803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AE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AE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737360" y="4709160"/>
            <a:ext cx="8714232" cy="868680"/>
          </a:xfrm>
          <a:prstGeom prst="roundRect">
            <a:avLst>
              <a:gd name="adj" fmla="val 8421"/>
            </a:avLst>
          </a:prstGeom>
          <a:solidFill>
            <a:srgbClr val="F2F3F0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737360" y="4709160"/>
            <a:ext cx="8714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1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is physical. </a:t>
            </a:r>
            <a:pPr algn="ctr" indent="0" marL="0">
              <a:buNone/>
            </a:pPr>
            <a:r>
              <a:rPr lang="en-US" sz="1900" b="1" i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consequence is organizational.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THE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Factories Have Data.</a:t>
            </a:r>
            <a:endParaRPr lang="en-US" sz="2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Lack Coordinated Recovery.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1663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1671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RESPONSE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532888"/>
            <a:ext cx="82296" cy="82296"/>
          </a:xfrm>
          <a:prstGeom prst="ellipse">
            <a:avLst/>
          </a:prstGeom>
          <a:solidFill>
            <a:srgbClr val="7C7B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41401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8388" y="2615184"/>
            <a:ext cx="0" cy="219456"/>
          </a:xfrm>
          <a:prstGeom prst="line">
            <a:avLst/>
          </a:prstGeom>
          <a:noFill/>
          <a:ln w="15875">
            <a:solidFill>
              <a:srgbClr val="D6D7D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898648"/>
            <a:ext cx="82296" cy="82296"/>
          </a:xfrm>
          <a:prstGeom prst="ellipse">
            <a:avLst/>
          </a:prstGeom>
          <a:solidFill>
            <a:srgbClr val="7C7B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7977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388" y="2980944"/>
            <a:ext cx="0" cy="219456"/>
          </a:xfrm>
          <a:prstGeom prst="line">
            <a:avLst/>
          </a:prstGeom>
          <a:noFill/>
          <a:ln w="15875">
            <a:solidFill>
              <a:srgbClr val="D6D7D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77240" y="3264408"/>
            <a:ext cx="82296" cy="82296"/>
          </a:xfrm>
          <a:prstGeom prst="ellipse">
            <a:avLst/>
          </a:prstGeom>
          <a:solidFill>
            <a:srgbClr val="7C7B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14553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" y="3346704"/>
            <a:ext cx="0" cy="219456"/>
          </a:xfrm>
          <a:prstGeom prst="line">
            <a:avLst/>
          </a:prstGeom>
          <a:noFill/>
          <a:ln w="15875">
            <a:solidFill>
              <a:srgbClr val="D6D7D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77240" y="3630168"/>
            <a:ext cx="82296" cy="82296"/>
          </a:xfrm>
          <a:prstGeom prst="ellipse">
            <a:avLst/>
          </a:prstGeom>
          <a:solidFill>
            <a:srgbClr val="7C7B7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351129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388" y="3712464"/>
            <a:ext cx="0" cy="219456"/>
          </a:xfrm>
          <a:prstGeom prst="line">
            <a:avLst/>
          </a:prstGeom>
          <a:noFill/>
          <a:ln w="15875">
            <a:solidFill>
              <a:srgbClr val="D6D7D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77240" y="3995928"/>
            <a:ext cx="82296" cy="82296"/>
          </a:xfrm>
          <a:prstGeom prst="ellipse">
            <a:avLst/>
          </a:prstGeom>
          <a:solidFill>
            <a:srgbClr val="7C7B7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387705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379976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HANDOFFS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63600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→ Supervisor → Maintenance → Warehouse → Procurement → Scheduler → Logistics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196596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24261F"/>
          </a:solidFill>
          <a:ln w="12700">
            <a:solidFill>
              <a:srgbClr val="24261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09360" y="21671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587752"/>
            <a:ext cx="100584" cy="100584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245973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59652" y="2688336"/>
            <a:ext cx="0" cy="256032"/>
          </a:xfrm>
          <a:prstGeom prst="line">
            <a:avLst/>
          </a:prstGeom>
          <a:noFill/>
          <a:ln w="19050">
            <a:solidFill>
              <a:srgbClr val="B872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008376"/>
            <a:ext cx="100584" cy="100584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288036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359652" y="3108960"/>
            <a:ext cx="0" cy="256032"/>
          </a:xfrm>
          <a:prstGeom prst="line">
            <a:avLst/>
          </a:prstGeom>
          <a:noFill/>
          <a:ln w="19050">
            <a:solidFill>
              <a:srgbClr val="B8720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429000"/>
            <a:ext cx="100584" cy="100584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330098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59652" y="3529584"/>
            <a:ext cx="0" cy="256032"/>
          </a:xfrm>
          <a:prstGeom prst="line">
            <a:avLst/>
          </a:prstGeom>
          <a:noFill/>
          <a:ln w="19050">
            <a:solidFill>
              <a:srgbClr val="B8720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3849624"/>
            <a:ext cx="100584" cy="100584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372160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359652" y="3950208"/>
            <a:ext cx="0" cy="256032"/>
          </a:xfrm>
          <a:prstGeom prst="line">
            <a:avLst/>
          </a:prstGeom>
          <a:noFill/>
          <a:ln w="19050">
            <a:solidFill>
              <a:srgbClr val="B8720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4270248"/>
            <a:ext cx="100584" cy="100584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37960" y="414223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476402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coordinated recovery workflow across the same functions.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580644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51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 not information availability. </a:t>
            </a:r>
            <a:pPr algn="ctr" indent="0" marL="0">
              <a:buNone/>
            </a:pPr>
            <a:r>
              <a:rPr lang="en-US" sz="155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coordination latency.</a:t>
            </a:r>
            <a:endParaRPr lang="en-US" sz="1550" dirty="0"/>
          </a:p>
        </p:txBody>
      </p:sp>
      <p:sp>
        <p:nvSpPr>
          <p:cNvPr id="40" name="Text 38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ManufactureFlow: An Autonomous Manufacturing</a:t>
            </a:r>
            <a:endParaRPr lang="en-US" sz="24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Control Plane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11880" y="2011680"/>
            <a:ext cx="3017520" cy="3017520"/>
          </a:xfrm>
          <a:prstGeom prst="ellipse">
            <a:avLst/>
          </a:prstGeom>
          <a:ln w="15875">
            <a:solidFill>
              <a:srgbClr val="C7C8C0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4343400" y="3136392"/>
            <a:ext cx="1554480" cy="768096"/>
          </a:xfrm>
          <a:prstGeom prst="roundRect">
            <a:avLst>
              <a:gd name="adj" fmla="val 14286"/>
            </a:avLst>
          </a:prstGeom>
          <a:solidFill>
            <a:srgbClr val="24261F"/>
          </a:solidFill>
          <a:ln w="12700">
            <a:solidFill>
              <a:srgbClr val="24261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343400" y="3136392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25696" y="1682496"/>
            <a:ext cx="138988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872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25696" y="168249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92550" y="2124402"/>
            <a:ext cx="138988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92550" y="212440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34456" y="3191256"/>
            <a:ext cx="138988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34456" y="319125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92550" y="4258110"/>
            <a:ext cx="138988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92550" y="425811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25696" y="4700016"/>
            <a:ext cx="138988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25696" y="470001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58842" y="4258110"/>
            <a:ext cx="138988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58842" y="425811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16936" y="3191256"/>
            <a:ext cx="138988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16936" y="319125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58842" y="2124402"/>
            <a:ext cx="138988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58842" y="212440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66760" y="178308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D6D7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67928" y="189280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567928" y="2185416"/>
            <a:ext cx="2935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anomaly pattern and determine specific failing sub-component before catastrophic stoppage.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66760" y="31089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1E1BE"/>
          </a:solidFill>
          <a:ln w="15240">
            <a:solidFill>
              <a:srgbClr val="B8720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67928" y="321868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567928" y="3511296"/>
            <a:ext cx="2935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Transactionally quarantine asset, commit warehouse stock, or launch automated supplier procurement.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66760" y="443484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D6D7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67928" y="454456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567928" y="4837176"/>
            <a:ext cx="2935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 queued jobs to qualified workstations and proactively recompute customer delivery SLAs.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AGENT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Agents. One Coordinated Recovery Graph.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80760" y="3703320"/>
            <a:ext cx="0" cy="-1783080"/>
          </a:xfrm>
          <a:prstGeom prst="line">
            <a:avLst/>
          </a:prstGeom>
          <a:noFill/>
          <a:ln w="15875">
            <a:solidFill>
              <a:srgbClr val="C7C8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3703320"/>
            <a:ext cx="1695810" cy="-551002"/>
          </a:xfrm>
          <a:prstGeom prst="line">
            <a:avLst/>
          </a:prstGeom>
          <a:noFill/>
          <a:ln w="15875">
            <a:solidFill>
              <a:srgbClr val="C7C8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3703320"/>
            <a:ext cx="1048068" cy="1442542"/>
          </a:xfrm>
          <a:prstGeom prst="line">
            <a:avLst/>
          </a:prstGeom>
          <a:noFill/>
          <a:ln w="15875">
            <a:solidFill>
              <a:srgbClr val="C7C8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3703320"/>
            <a:ext cx="-1048068" cy="1442542"/>
          </a:xfrm>
          <a:prstGeom prst="line">
            <a:avLst/>
          </a:prstGeom>
          <a:noFill/>
          <a:ln w="15875">
            <a:solidFill>
              <a:srgbClr val="C7C8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3703320"/>
            <a:ext cx="-1695810" cy="-551002"/>
          </a:xfrm>
          <a:prstGeom prst="line">
            <a:avLst/>
          </a:prstGeom>
          <a:noFill/>
          <a:ln w="15875">
            <a:solidFill>
              <a:srgbClr val="C7C8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2971800"/>
            <a:ext cx="1463040" cy="1463040"/>
          </a:xfrm>
          <a:prstGeom prst="ellipse">
            <a:avLst/>
          </a:prstGeom>
          <a:solidFill>
            <a:srgbClr val="2426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49240" y="2971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346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969764" y="146304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Intelligence Agent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69764" y="1847088"/>
            <a:ext cx="2221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detection</a:t>
            </a:r>
            <a:endParaRPr lang="en-US" sz="90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Time-to-failure</a:t>
            </a:r>
            <a:endParaRPr lang="en-US" sz="90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diagnosis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19270" y="2466518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65574" y="255795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Recovery Agent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65574" y="2942006"/>
            <a:ext cx="2221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check</a:t>
            </a:r>
            <a:endParaRPr lang="en-US" sz="90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0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work order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71528" y="4460062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017832" y="4551502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Rerouting Agent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17832" y="4935550"/>
            <a:ext cx="2221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workstation</a:t>
            </a:r>
            <a:endParaRPr lang="en-US" sz="90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&amp; capacity</a:t>
            </a:r>
            <a:endParaRPr lang="en-US" sz="90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reassignment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75392" y="4460062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921696" y="4551502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Impact Agent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921696" y="4935550"/>
            <a:ext cx="2221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propagation</a:t>
            </a:r>
            <a:endParaRPr lang="en-US" sz="90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commitment</a:t>
            </a:r>
            <a:endParaRPr lang="en-US" sz="90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classification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27650" y="2466518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273954" y="255795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Notification Agent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273954" y="2942006"/>
            <a:ext cx="2221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alerts</a:t>
            </a:r>
            <a:endParaRPr lang="en-US" sz="90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communication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0" y="5989320"/>
            <a:ext cx="8869680" cy="411480"/>
          </a:xfrm>
          <a:prstGeom prst="roundRect">
            <a:avLst>
              <a:gd name="adj" fmla="val 17778"/>
            </a:avLst>
          </a:prstGeom>
          <a:solidFill>
            <a:srgbClr val="F2F3F0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45920" y="59893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make decisions and coordinate. </a:t>
            </a:r>
            <a:pPr algn="ctr" indent="0" marL="0">
              <a:buNone/>
            </a:pPr>
            <a:r>
              <a:rPr lang="en-US" sz="1100" b="1" i="1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services execute consequential business operations.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END-TO-END EXECUTION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Sensor Signal to Factory-Wide Recovery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02336" cy="402336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1719072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993392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enters via streaming ingest.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502920" y="2569464"/>
            <a:ext cx="402336" cy="402336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50545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779776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Intelligence identifies anomaly pattern.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502920" y="3355848"/>
            <a:ext cx="402336" cy="402336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329184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3566160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workstation enters controlled recovery state.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02920" y="4142232"/>
            <a:ext cx="402336" cy="402336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" y="4078224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" y="4352544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failing sub-component identified.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502920" y="4928616"/>
            <a:ext cx="402336" cy="402336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33272" y="486460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Resources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" y="5138928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checked — reserve spare or trigger procurement.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254496" y="1783080"/>
            <a:ext cx="402336" cy="402336"/>
          </a:xfrm>
          <a:prstGeom prst="ellipse">
            <a:avLst/>
          </a:prstGeom>
          <a:solidFill>
            <a:srgbClr val="2426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544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1719072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1993392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OSHA-compliant LOTO maintenance work order created.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254496" y="2569464"/>
            <a:ext cx="402336" cy="402336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54496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250545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2779776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Multi-parameter recovery time is calculated.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254496" y="3355848"/>
            <a:ext cx="402336" cy="402336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54496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784848" y="329184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784848" y="3566160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jobs move to compatible workstations.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6254496" y="4142232"/>
            <a:ext cx="402336" cy="402336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54496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784848" y="4078224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784848" y="4352544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shift affects shipment commitments.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254496" y="4928616"/>
            <a:ext cx="402336" cy="402336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54496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784848" y="486460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784848" y="5138928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receive updated operational state.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502920" y="5989320"/>
            <a:ext cx="11183112" cy="411480"/>
          </a:xfrm>
          <a:prstGeom prst="roundRect">
            <a:avLst>
              <a:gd name="adj" fmla="val 17778"/>
            </a:avLst>
          </a:prstGeom>
          <a:solidFill>
            <a:srgbClr val="24261F"/>
          </a:solidFill>
          <a:ln w="12700">
            <a:solidFill>
              <a:srgbClr val="24261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598932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orchestration     </a:t>
            </a:r>
            <a:pPr algn="ctr" indent="0" marL="0">
              <a:buNone/>
            </a:pPr>
            <a:r>
              <a:rPr lang="en-US" sz="1100" dirty="0">
                <a:solidFill>
                  <a:srgbClr val="F2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100" b="1" dirty="0">
                <a:solidFill>
                  <a:srgbClr val="F2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human validation → Return-to-Service sign-off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OPERATIONAL INCIDENT SCENARIO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Critical Degradation. An Entire Autonomous Recovery.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WORKSTATION TELEMETRY BASELINE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75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WS-102 | CNC Turning Center Alpha | Line L-03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496312"/>
            <a:ext cx="4937760" cy="420624"/>
          </a:xfrm>
          <a:prstGeom prst="roundRect">
            <a:avLst>
              <a:gd name="adj" fmla="val 10870"/>
            </a:avLst>
          </a:prstGeom>
          <a:solidFill>
            <a:srgbClr val="F2DBD6"/>
          </a:solidFill>
          <a:ln w="9525">
            <a:solidFill>
              <a:srgbClr val="AE44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69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 Temperature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569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 °C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569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Band: 55.0 – 70.0 °C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990088"/>
            <a:ext cx="4937760" cy="420624"/>
          </a:xfrm>
          <a:prstGeom prst="roundRect">
            <a:avLst>
              <a:gd name="adj" fmla="val 10870"/>
            </a:avLst>
          </a:prstGeom>
          <a:solidFill>
            <a:srgbClr val="F2DBD6"/>
          </a:solidFill>
          <a:ln w="9525">
            <a:solidFill>
              <a:srgbClr val="AE44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RMS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mm/s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Band: 1.2 – 2.8 mm/s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483864"/>
            <a:ext cx="4937760" cy="420624"/>
          </a:xfrm>
          <a:prstGeom prst="roundRect">
            <a:avLst>
              <a:gd name="adj" fmla="val 10870"/>
            </a:avLst>
          </a:prstGeom>
          <a:solidFill>
            <a:srgbClr val="F2F3F0"/>
          </a:solidFill>
          <a:ln w="9525">
            <a:solidFill>
              <a:srgbClr val="D6D7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5570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Motor Current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5570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 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5570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Band: 14.0 – 19.0 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4937760" cy="420624"/>
          </a:xfrm>
          <a:prstGeom prst="roundRect">
            <a:avLst>
              <a:gd name="adj" fmla="val 10870"/>
            </a:avLst>
          </a:prstGeom>
          <a:solidFill>
            <a:srgbClr val="F2F3F0"/>
          </a:solidFill>
          <a:ln w="9525">
            <a:solidFill>
              <a:srgbClr val="D6D7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050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System Pres.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4050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bar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Band: 2.5 – 8.5 bar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4937760" cy="420624"/>
          </a:xfrm>
          <a:prstGeom prst="roundRect">
            <a:avLst>
              <a:gd name="adj" fmla="val 10870"/>
            </a:avLst>
          </a:prstGeom>
          <a:solidFill>
            <a:srgbClr val="F2DBD6"/>
          </a:solidFill>
          <a:ln w="9525">
            <a:solidFill>
              <a:srgbClr val="AE44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544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Diagnostic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834640" y="4544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X_AXIS_VIBRATION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4544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Band: No active codes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4965192"/>
            <a:ext cx="4937760" cy="420624"/>
          </a:xfrm>
          <a:prstGeom prst="roundRect">
            <a:avLst>
              <a:gd name="adj" fmla="val 10870"/>
            </a:avLst>
          </a:prstGeom>
          <a:solidFill>
            <a:srgbClr val="F2F3F0"/>
          </a:solidFill>
          <a:ln w="9525">
            <a:solidFill>
              <a:srgbClr val="D6D7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Workload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834640" y="50383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Capacity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023360" y="5038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Band: 60.0 – 85.0 %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537960" y="18288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&amp; ASSET QUARANTINE RESOLUTION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2075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Intelligence → Recovery Orchestrator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492240" y="2496312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F2DBD6"/>
          </a:solidFill>
          <a:ln w="12700">
            <a:solidFill>
              <a:srgbClr val="AE4438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492240" y="256946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30083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RISK SCORE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98280" y="2496312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F1E1BE"/>
          </a:solidFill>
          <a:ln w="12700">
            <a:solidFill>
              <a:srgbClr val="B8720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098280" y="256946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Hours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9098280" y="30083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TIME-TO-FAILURE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3502152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F2F3F0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492240" y="357530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BRG-10023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40142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 COMPONENT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098280" y="3502152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24261F"/>
          </a:solidFill>
          <a:ln w="12700">
            <a:solidFill>
              <a:srgbClr val="24261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9098280" y="357530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9098280" y="40142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LOCK ENGAGED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92240" y="45720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2F3F0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29400" y="46360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1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PLANT DATASET VALIDATION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6629400" y="48737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validated across 10,000 baseline hours of simulated multi-station telemetry. The 92% failure score breached the deterministic 85% safety threshold, automatically isolating the machine to prevent spindle seizure and tooling damage.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AUTONOMOUS RECOVERY BRANCHING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Does Not Stop at Prediction: Adaptive Remediation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B8720F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1E1B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09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A: LOCAL SPARE INVENTORY AVAILABLE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Warehouse Inventory Audit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957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BRG-10023 queried in Plant 1. Available: 3 units → Required: 1 unit.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163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Optimistic Database Reservation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reservation lock applied. Reserved = 1, available stock updated to 2 units.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3814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Maintenance Work Order Synthesized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393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WO generated with OSHA Lockout-Tagout (LOTO) protocol &amp; replacement checklist.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5993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Rapid Restoration Calculation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2611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procurement latency: Staging (1h) + Replacement (2h) + Verification Run-in (0.5h).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475488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2F3F0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RECOVERY WINDOW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029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 Hours — Same Day Return-to-Service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AE4438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60020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2DBD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1709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E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B: ZERO WAREHOUSE STOCK (SOURCING FALLBACK)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1945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Warehouse Stockout Identified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3957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bin count q = 0. Sourcing fallback autonomously triggered without human delay.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8163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Deterministic Vendor Evaluation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Motion (Lead: 8h, Rel: 98%, $1,200) ranked #1 over Orbit Industrial (Lead: 12h, Rel: 94%).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43814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Purchase Requisition Generated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6393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PR-AUTO-WS102 created and queued for approved electronic dispatch to vendor portal.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405993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Extended Multi-Factor Timeline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2611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lead time (8h exped. / 48h std) integrated with staging and testing buffer.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37960" y="475488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2F3F0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RECOVERY WINDOW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5029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 Hours (Expedited) to ~2.5 Days (Standard)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02920" y="5897880"/>
            <a:ext cx="11183112" cy="411480"/>
          </a:xfrm>
          <a:prstGeom prst="roundRect">
            <a:avLst>
              <a:gd name="adj" fmla="val 17778"/>
            </a:avLst>
          </a:prstGeom>
          <a:solidFill>
            <a:srgbClr val="24261F"/>
          </a:solidFill>
          <a:ln w="12700">
            <a:solidFill>
              <a:srgbClr val="2426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8978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workflow dynamically branches based on real-time plant inventory constraints without human triage lag.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CAPACITY &amp; CUSTOMER PROTECTION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Preserving Plant Capacity and Customer Commitments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CONTINUITY: CONSTRAINT-BASED REROUTING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391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Frozen Jobs Reallocated to Qualified Workstations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4937760" cy="621792"/>
          </a:xfrm>
          <a:prstGeom prst="roundRect">
            <a:avLst>
              <a:gd name="adj" fmla="val 7353"/>
            </a:avLst>
          </a:prstGeom>
          <a:solidFill>
            <a:srgbClr val="F2F3F0"/>
          </a:solidFill>
          <a:ln w="9525">
            <a:solidFill>
              <a:srgbClr val="D6D7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42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J1001 (HIGH)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542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WS-102 → WS-105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980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Impact: 38% → 54%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651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REROUTED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182112"/>
            <a:ext cx="4937760" cy="621792"/>
          </a:xfrm>
          <a:prstGeom prst="roundRect">
            <a:avLst>
              <a:gd name="adj" fmla="val 7353"/>
            </a:avLst>
          </a:prstGeom>
          <a:solidFill>
            <a:srgbClr val="F2F3F0"/>
          </a:solidFill>
          <a:ln w="9525">
            <a:solidFill>
              <a:srgbClr val="D6D7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2552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J1002 (CRITICAL)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2552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WS-102 → WS-108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5112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Impact: 44% → 58%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364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REROUTED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895344"/>
            <a:ext cx="4937760" cy="621792"/>
          </a:xfrm>
          <a:prstGeom prst="roundRect">
            <a:avLst>
              <a:gd name="adj" fmla="val 7353"/>
            </a:avLst>
          </a:prstGeom>
          <a:solidFill>
            <a:srgbClr val="F2F3F0"/>
          </a:solidFill>
          <a:ln w="9525">
            <a:solidFill>
              <a:srgbClr val="D6D7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9684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J1003 (NORMAL)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39684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WS-102 → WS-105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224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Impact: 54% → 66%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4078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REROUTED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4727448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8006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EVALUATION SUMMARY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0200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candidates checked for tooling, operator qualification, and capacity. 2 selected; WS-103 rejected due to capacity overflow (88% + 14% &gt; 100%). Zero line starvation.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37960" y="18013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CUSTOMER IMPACT: SHIPMENT SLAS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20391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Delays Propagated into Customer Orders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92240" y="2468880"/>
            <a:ext cx="4937760" cy="621792"/>
          </a:xfrm>
          <a:prstGeom prst="roundRect">
            <a:avLst>
              <a:gd name="adj" fmla="val 7353"/>
            </a:avLst>
          </a:prstGeom>
          <a:solidFill>
            <a:srgbClr val="F2F3F0"/>
          </a:solidFill>
          <a:ln w="9525">
            <a:solidFill>
              <a:srgbClr val="D6D7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9400" y="2542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SH1001 (Customer Commitment)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738360" y="2542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TIME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27980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Orig: Aug 11, 16:00 → Proj: Aug 11, 12:30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646920" y="2798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+210 min buffer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92240" y="3182112"/>
            <a:ext cx="4937760" cy="621792"/>
          </a:xfrm>
          <a:prstGeom prst="roundRect">
            <a:avLst>
              <a:gd name="adj" fmla="val 7353"/>
            </a:avLst>
          </a:prstGeom>
          <a:solidFill>
            <a:srgbClr val="F2DBD6"/>
          </a:solidFill>
          <a:ln w="9525">
            <a:solidFill>
              <a:srgbClr val="AE44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29400" y="32552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SH1002 (Customer Commitment)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738360" y="32552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35112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Orig: Aug 11, 18:00 → Proj: Aug 12, 09:30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646920" y="3511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E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+85 min breach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92240" y="3895344"/>
            <a:ext cx="4937760" cy="621792"/>
          </a:xfrm>
          <a:prstGeom prst="roundRect">
            <a:avLst>
              <a:gd name="adj" fmla="val 7353"/>
            </a:avLst>
          </a:prstGeom>
          <a:solidFill>
            <a:srgbClr val="F2F3F0"/>
          </a:solidFill>
          <a:ln w="9525">
            <a:solidFill>
              <a:srgbClr val="D6D7D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29400" y="39684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SH1003 (Customer Commitment)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738360" y="39684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TIME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4224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Orig: Aug 12, 14:00 → Proj: Aug 12, 11:40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646920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+140 min buffer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92240" y="4727448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29400" y="48006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LOGISTICS NOTIFICATION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629400" y="50200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shipment delay identified 18 hours prior to dispatch deadline. Automated contextual alerts pushed to Logistics Lead &amp; Customer Account Manager before contractual SLA breach occurs.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GOVERNANCE &amp; TECHNICAL GUARDRAILS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Does Not Mean Uncontrolled: Four Safeguards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49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91440" cy="1664208"/>
          </a:xfrm>
          <a:prstGeom prst="rectangle">
            <a:avLst/>
          </a:prstGeom>
          <a:solidFill>
            <a:srgbClr val="B872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465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INTEGRITY (ACID)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0253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PARTIAL OR CORRUPTED STATES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5856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 quarantine, inventory reservations, and production job reassignments execute inside explicit PostgreSQL database transactions. Any service fault forces an immediate rollback, preventing orphan resource locks.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349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600200"/>
            <a:ext cx="91440" cy="1664208"/>
          </a:xfrm>
          <a:prstGeom prst="rectangle">
            <a:avLst/>
          </a:prstGeom>
          <a:solidFill>
            <a:srgbClr val="B872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7465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EXECUTION GRAPH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00253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OPERATIONAL ACTIONS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25856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recovery cycle is bound to a single durable correlation ID. Re-transmitting telemetry spikes or network retries returns the existing execution state with 0 duplicate purchase orders or redundant work orders.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401568"/>
            <a:ext cx="5349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401568"/>
            <a:ext cx="91440" cy="1664208"/>
          </a:xfrm>
          <a:prstGeom prst="rectangle">
            <a:avLst/>
          </a:prstGeom>
          <a:solidFill>
            <a:srgbClr val="2426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478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AUDIT LINEAGE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80390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CHRONOLOGICAL EVENT STORE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5993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captured in an append-only event ledger (workflow_events). Complete lineage from the raw telemetry reading to purchase order, reroute decision, and maintenance sign-off is permanently auditable.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3401568"/>
            <a:ext cx="53492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401568"/>
            <a:ext cx="91440" cy="1664208"/>
          </a:xfrm>
          <a:prstGeom prst="rectangle">
            <a:avLst/>
          </a:prstGeom>
          <a:solidFill>
            <a:srgbClr val="2426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35478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HUMAN-GATED RETURN-TO-SERVICE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80390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COORDINATES; HUMANS VALIDATE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05993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execute digital coordination autonomously, but physical machine restart is strictly gated behind human sign-off. Technicians must physically remove LOTO locks and log successful test run-in before release.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230368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24261F"/>
          </a:solidFill>
          <a:ln w="12700">
            <a:solidFill>
              <a:srgbClr val="2426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" y="5321808"/>
            <a:ext cx="22366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5724144"/>
            <a:ext cx="22366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RISK DETECTED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739542" y="5321808"/>
            <a:ext cx="22366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&lt;480 ms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2739542" y="5724144"/>
            <a:ext cx="22366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SPEED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4976165" y="5321808"/>
            <a:ext cx="22366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976165" y="5724144"/>
            <a:ext cx="22366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REROUTED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212787" y="5321808"/>
            <a:ext cx="22366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212787" y="5724144"/>
            <a:ext cx="22366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TRACEABILITY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9449410" y="5321808"/>
            <a:ext cx="22366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449410" y="5724144"/>
            <a:ext cx="22366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RESTARTS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CAPABILITY BASELINE &amp;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System Maturity and Future Trajectory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9584" cy="37947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DEPLOYED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02536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CONTROL PLANE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542032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86968" y="24688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operations console (Next.js 16 / React 19)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31520" y="3072384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" y="2999232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Digital Twin factory floor with Three.js &amp; WebGL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31520" y="3602736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3529584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Dual-database isolation: Live vs Presentation Demo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31520" y="4133088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" y="4059936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Server-Sent Events (SSE) event bus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31520" y="4663440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459028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relational persistence schemas in PostgreSQL 16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325112" y="1600200"/>
            <a:ext cx="3529584" cy="37947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53712" y="178308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BASELINE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2002536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ORCHESTRATION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53712" y="2542032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09160" y="24688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11-node compiled LangGraph state machine runtime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553712" y="3072384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09160" y="2999232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row-locking warehouse reservation engine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553712" y="3602736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09160" y="3529584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vendor ranking (Lead, Cost, Quality)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553712" y="4133088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09160" y="4059936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Constraint-satisfaction alternative machine scheduler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553712" y="4663440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09160" y="459028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recovery time calculator with SHA-256 hash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147304" y="1600200"/>
            <a:ext cx="3529584" cy="37947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375904" y="178308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DATASET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375904" y="2002536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EVALUATION BENCHMARKS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75904" y="2542032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31352" y="24688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multi-station synthetic telemetry dataset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8375904" y="3072384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31352" y="2999232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 diagnostic match across 10,000 baseline hours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8375904" y="3602736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31352" y="3529584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(&lt;480ms) multi-agent transaction latency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8375904" y="4133088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531352" y="4059936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reroute satisfaction for compatible job candidates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8375904" y="4663440"/>
            <a:ext cx="73152" cy="73152"/>
          </a:xfrm>
          <a:prstGeom prst="ellipse">
            <a:avLst/>
          </a:prstGeom>
          <a:solidFill>
            <a:srgbClr val="B8720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531352" y="459028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idempotency collision rate over 100 repeated runs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502920" y="5532120"/>
            <a:ext cx="11183112" cy="594360"/>
          </a:xfrm>
          <a:prstGeom prst="roundRect">
            <a:avLst>
              <a:gd name="adj" fmla="val 12308"/>
            </a:avLst>
          </a:prstGeom>
          <a:solidFill>
            <a:srgbClr val="24261F"/>
          </a:solidFill>
          <a:ln w="12700">
            <a:solidFill>
              <a:srgbClr val="24261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2920" y="5669280"/>
            <a:ext cx="2795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Controlled Baseline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298698" y="5669280"/>
            <a:ext cx="2795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Industrial Edge IoT (OPC-UA)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094476" y="5669280"/>
            <a:ext cx="2795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ERP / SAP Integration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890254" y="5669280"/>
            <a:ext cx="2795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Multi-Plant Control Plane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Unscheduled Downtime into Managed Resilience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OPERATIONAL PARADIGM SHIFT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75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 Firefighting to Autonomous Resilience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96312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F2F3F0"/>
          </a:solidFill>
          <a:ln w="9525">
            <a:solidFill>
              <a:srgbClr val="D6D7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694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CONVENTIONAL: Predictive alarms trapped on isolated dashboards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254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MANUFACTUREFLOW: Closed-loop state machine acts immediately upon breach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F2F3F0"/>
          </a:solidFill>
          <a:ln w="9525">
            <a:solidFill>
              <a:srgbClr val="D6D7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192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CONVENTIONAL: 7 sequential manual phone calls &amp; handoff delays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753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MANUFACTUREFLOW: Cross-departmental coordination automated in &lt;480ms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995928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F2F3F0"/>
          </a:solidFill>
          <a:ln w="9525">
            <a:solidFill>
              <a:srgbClr val="D6D7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069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CONVENTIONAL: Unnoticed inventory stockouts cause idle technicians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251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MANUFACTUREFLOW: Simultaneous stock reservation or auto-procurement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745736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F2F3F0"/>
          </a:solidFill>
          <a:ln w="9525">
            <a:solidFill>
              <a:srgbClr val="D6D7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8188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CONVENTIONAL: Customer shipment defaults discovered after deadlines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74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MANUFACTUREFLOW: Delivery impact projected &amp; customer accounts alerted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1600200"/>
            <a:ext cx="539496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6D7D0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37960" y="18288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ENTERPRISE VALUE DRIVERS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075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Commercial &amp; Operational ROI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542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30–40%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25420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LATENCY COMPRESSION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275234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cross-departmental coordination delay between maintenance, warehouse, procurement, and scheduling.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291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329184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ADHERENCE PRESERVATION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35021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reallocates in-flight jobs to qualified alternative workstations, eliminating idle downstream assembly starvation.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0416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404164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LINEAGE TRACEABILITY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680960" y="4251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telemetry spike, component reservation, and repair sign-off bound under a cryptographic incident correlation ID.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479145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 hrs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479145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SLA MITIGATION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50017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1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logistics planners to notify customers and adjust shipment routing before contractual default penalties apply.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5897880"/>
            <a:ext cx="11183112" cy="411480"/>
          </a:xfrm>
          <a:prstGeom prst="roundRect">
            <a:avLst>
              <a:gd name="adj" fmla="val 17778"/>
            </a:avLst>
          </a:prstGeom>
          <a:solidFill>
            <a:srgbClr val="24261F"/>
          </a:solidFill>
          <a:ln w="12700">
            <a:solidFill>
              <a:srgbClr val="2426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58978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 does not simply predict that a machine will fail. It coordinates what the factory does next.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7C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B87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MANUFACTUREFLOW · MACHINE OVERWATCH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288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2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Manufacturing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2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Control Plane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Ready for Technical Q&amp;A and Operational Deep-Dive.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282B26"/>
          </a:solidFill>
          <a:ln w="12700">
            <a:solidFill>
              <a:srgbClr val="3E423B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44348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Edge Connectivity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7548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live sensor telemetry via industrial OPC-UA, MQTT &amp; fieldbus gateways.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425196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282B26"/>
          </a:solidFill>
          <a:ln w="12700">
            <a:solidFill>
              <a:srgbClr val="3E423B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54880" y="44348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Plant-Level Pilot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47548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on critical bottleneck workstations (CNC Turning Cells, Line L-03).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425196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282B26"/>
          </a:solidFill>
          <a:ln w="12700">
            <a:solidFill>
              <a:srgbClr val="3E423B"/>
            </a:solidFill>
            <a:prstDash val="solid"/>
          </a:ln>
          <a:effectLst>
            <a:outerShdw sx="100000" sy="100000" kx="0" ky="0" algn="bl" rotWithShape="0" blurRad="76200" dist="25400" dir="5400000">
              <a:srgbClr val="80807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58200" y="44348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ERP &amp; Supply Chain Sync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548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live vendor requisition APIs to SAP S/4HANA &amp; Oracle NetSuite.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A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— MANUFACTUREFLOW EXECUTIVE PRESENTATION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2026-09-09T18:08:42Z</dcterms:created>
  <dcterms:modified xsi:type="dcterms:W3CDTF">2026-09-09T18:08:42Z</dcterms:modified>
</cp:coreProperties>
</file>